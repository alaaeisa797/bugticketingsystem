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Instrument Sans Medium"/>
      <p:regular r:id="rId15"/>
    </p:embeddedFont>
    <p:embeddedFont>
      <p:font typeface="Instrument Sans Medium"/>
      <p:regular r:id="rId16"/>
    </p:embeddedFont>
    <p:embeddedFont>
      <p:font typeface="Instrument Sans Medium"/>
      <p:regular r:id="rId17"/>
    </p:embeddedFont>
    <p:embeddedFont>
      <p:font typeface="Instrument Sans Medium"/>
      <p:regular r:id="rId18"/>
    </p:embeddedFont>
    <p:embeddedFont>
      <p:font typeface="Inter"/>
      <p:regular r:id="rId19"/>
    </p:embeddedFont>
    <p:embeddedFont>
      <p:font typeface="Inter"/>
      <p:regular r:id="rId20"/>
    </p:embeddedFont>
    <p:embeddedFont>
      <p:font typeface="Inter"/>
      <p:regular r:id="rId21"/>
    </p:embeddedFont>
    <p:embeddedFont>
      <p:font typeface="Inter"/>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328624"/>
            <a:ext cx="7556421" cy="1417558"/>
          </a:xfrm>
          <a:prstGeom prst="rect">
            <a:avLst/>
          </a:prstGeom>
          <a:noFill/>
          <a:ln/>
        </p:spPr>
        <p:txBody>
          <a:bodyPr wrap="square" lIns="0" tIns="0" rIns="0" bIns="0" rtlCol="0" anchor="t"/>
          <a:lstStyle/>
          <a:p>
            <a:pPr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Body Language in Public Speaking</a:t>
            </a:r>
            <a:endParaRPr lang="en-US" sz="4450" dirty="0"/>
          </a:p>
        </p:txBody>
      </p:sp>
      <p:sp>
        <p:nvSpPr>
          <p:cNvPr id="4" name="Text 1"/>
          <p:cNvSpPr/>
          <p:nvPr/>
        </p:nvSpPr>
        <p:spPr>
          <a:xfrm>
            <a:off x="6280190" y="4086344"/>
            <a:ext cx="7556421" cy="1814513"/>
          </a:xfrm>
          <a:prstGeom prst="rect">
            <a:avLst/>
          </a:prstGeom>
          <a:noFill/>
          <a:ln/>
        </p:spPr>
        <p:txBody>
          <a:bodyPr wrap="square" lIns="0" tIns="0" rIns="0" bIns="0" rtlCol="0" anchor="t"/>
          <a:lstStyle/>
          <a:p>
            <a:pPr indent="0" marL="0">
              <a:lnSpc>
                <a:spcPts val="2850"/>
              </a:lnSpc>
              <a:buNone/>
            </a:pPr>
            <a:r>
              <a:rPr lang="en-US" sz="1750" dirty="0">
                <a:solidFill>
                  <a:srgbClr val="C7CDD6"/>
                </a:solidFill>
                <a:latin typeface="Inter" pitchFamily="34" charset="0"/>
                <a:ea typeface="Inter" pitchFamily="34" charset="-122"/>
                <a:cs typeface="Inter" pitchFamily="34" charset="-120"/>
              </a:rPr>
              <a:t>Body language is just as important as the words you speak when delivering a speech. A confident and engaging presence can captivate your audience and enhance the impact of your message. Today, we'll explore how to use your body language to appear confident and connect with your audience, even when you're feeling nervous.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58509"/>
            <a:ext cx="6108025" cy="708779"/>
          </a:xfrm>
          <a:prstGeom prst="rect">
            <a:avLst/>
          </a:prstGeom>
          <a:noFill/>
          <a:ln/>
        </p:spPr>
        <p:txBody>
          <a:bodyPr wrap="none" lIns="0" tIns="0" rIns="0" bIns="0" rtlCol="0" anchor="t"/>
          <a:lstStyle/>
          <a:p>
            <a:pPr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Body Language Signals</a:t>
            </a:r>
            <a:endParaRPr lang="en-US" sz="4450" dirty="0"/>
          </a:p>
        </p:txBody>
      </p:sp>
      <p:sp>
        <p:nvSpPr>
          <p:cNvPr id="3" name="Text 1"/>
          <p:cNvSpPr/>
          <p:nvPr/>
        </p:nvSpPr>
        <p:spPr>
          <a:xfrm>
            <a:off x="793790" y="3634264"/>
            <a:ext cx="2835235" cy="354330"/>
          </a:xfrm>
          <a:prstGeom prst="rect">
            <a:avLst/>
          </a:prstGeom>
          <a:noFill/>
          <a:ln/>
        </p:spPr>
        <p:txBody>
          <a:bodyPr wrap="none" lIns="0" tIns="0" rIns="0" bIns="0" rtlCol="0" anchor="t"/>
          <a:lstStyle/>
          <a:p>
            <a:pPr indent="0" marL="0">
              <a:lnSpc>
                <a:spcPts val="2750"/>
              </a:lnSpc>
              <a:buNone/>
            </a:pPr>
            <a:r>
              <a:rPr lang="en-US" sz="2200" dirty="0">
                <a:solidFill>
                  <a:srgbClr val="EFD5FA"/>
                </a:solidFill>
                <a:latin typeface="Instrument Sans Medium" pitchFamily="34" charset="0"/>
                <a:ea typeface="Instrument Sans Medium" pitchFamily="34" charset="-122"/>
                <a:cs typeface="Instrument Sans Medium" pitchFamily="34" charset="-120"/>
              </a:rPr>
              <a:t>Nervous Habits</a:t>
            </a:r>
            <a:endParaRPr lang="en-US" sz="2200" dirty="0"/>
          </a:p>
        </p:txBody>
      </p:sp>
      <p:sp>
        <p:nvSpPr>
          <p:cNvPr id="4" name="Text 2"/>
          <p:cNvSpPr/>
          <p:nvPr/>
        </p:nvSpPr>
        <p:spPr>
          <a:xfrm>
            <a:off x="793790" y="4215408"/>
            <a:ext cx="6244709" cy="1088708"/>
          </a:xfrm>
          <a:prstGeom prst="rect">
            <a:avLst/>
          </a:prstGeom>
          <a:noFill/>
          <a:ln/>
        </p:spPr>
        <p:txBody>
          <a:bodyPr wrap="square" lIns="0" tIns="0" rIns="0" bIns="0" rtlCol="0" anchor="t"/>
          <a:lstStyle/>
          <a:p>
            <a:pPr indent="0" marL="0">
              <a:lnSpc>
                <a:spcPts val="2850"/>
              </a:lnSpc>
              <a:buNone/>
            </a:pPr>
            <a:r>
              <a:rPr lang="en-US" sz="1750" dirty="0">
                <a:solidFill>
                  <a:srgbClr val="C7CDD6"/>
                </a:solidFill>
                <a:latin typeface="Inter" pitchFamily="34" charset="0"/>
                <a:ea typeface="Inter" pitchFamily="34" charset="-122"/>
                <a:cs typeface="Inter" pitchFamily="34" charset="-120"/>
              </a:rPr>
              <a:t>Fidgeting, avoiding eye contact, and speaking too quickly can indicate nervousness. These habits can make you seem unprepared and lacking confidence.</a:t>
            </a:r>
            <a:endParaRPr lang="en-US" sz="1750" dirty="0"/>
          </a:p>
        </p:txBody>
      </p:sp>
      <p:sp>
        <p:nvSpPr>
          <p:cNvPr id="5" name="Text 3"/>
          <p:cNvSpPr/>
          <p:nvPr/>
        </p:nvSpPr>
        <p:spPr>
          <a:xfrm>
            <a:off x="7599521" y="3634264"/>
            <a:ext cx="2835235" cy="354330"/>
          </a:xfrm>
          <a:prstGeom prst="rect">
            <a:avLst/>
          </a:prstGeom>
          <a:noFill/>
          <a:ln/>
        </p:spPr>
        <p:txBody>
          <a:bodyPr wrap="none" lIns="0" tIns="0" rIns="0" bIns="0" rtlCol="0" anchor="t"/>
          <a:lstStyle/>
          <a:p>
            <a:pPr indent="0" marL="0">
              <a:lnSpc>
                <a:spcPts val="2750"/>
              </a:lnSpc>
              <a:buNone/>
            </a:pPr>
            <a:r>
              <a:rPr lang="en-US" sz="2200" dirty="0">
                <a:solidFill>
                  <a:srgbClr val="EFD5FA"/>
                </a:solidFill>
                <a:latin typeface="Instrument Sans Medium" pitchFamily="34" charset="0"/>
                <a:ea typeface="Instrument Sans Medium" pitchFamily="34" charset="-122"/>
                <a:cs typeface="Instrument Sans Medium" pitchFamily="34" charset="-120"/>
              </a:rPr>
              <a:t>Lack of Confidence</a:t>
            </a:r>
            <a:endParaRPr lang="en-US" sz="2200" dirty="0"/>
          </a:p>
        </p:txBody>
      </p:sp>
      <p:sp>
        <p:nvSpPr>
          <p:cNvPr id="6" name="Text 4"/>
          <p:cNvSpPr/>
          <p:nvPr/>
        </p:nvSpPr>
        <p:spPr>
          <a:xfrm>
            <a:off x="7599521" y="4215408"/>
            <a:ext cx="6244709" cy="1451610"/>
          </a:xfrm>
          <a:prstGeom prst="rect">
            <a:avLst/>
          </a:prstGeom>
          <a:noFill/>
          <a:ln/>
        </p:spPr>
        <p:txBody>
          <a:bodyPr wrap="square" lIns="0" tIns="0" rIns="0" bIns="0" rtlCol="0" anchor="t"/>
          <a:lstStyle/>
          <a:p>
            <a:pPr indent="0" marL="0">
              <a:lnSpc>
                <a:spcPts val="2850"/>
              </a:lnSpc>
              <a:buNone/>
            </a:pPr>
            <a:r>
              <a:rPr lang="en-US" sz="1750" dirty="0">
                <a:solidFill>
                  <a:srgbClr val="C7CDD6"/>
                </a:solidFill>
                <a:latin typeface="Inter" pitchFamily="34" charset="0"/>
                <a:ea typeface="Inter" pitchFamily="34" charset="-122"/>
                <a:cs typeface="Inter" pitchFamily="34" charset="-120"/>
              </a:rPr>
              <a:t>Slouching, looking at your feet, and speaking in a monotone voice can convey a lack of self-assurance. These cues can make your audience question your credibility.</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310289"/>
            <a:ext cx="5855732" cy="708779"/>
          </a:xfrm>
          <a:prstGeom prst="rect">
            <a:avLst/>
          </a:prstGeom>
          <a:noFill/>
          <a:ln/>
        </p:spPr>
        <p:txBody>
          <a:bodyPr wrap="none" lIns="0" tIns="0" rIns="0" bIns="0" rtlCol="0" anchor="t"/>
          <a:lstStyle/>
          <a:p>
            <a:pPr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Mastering Confidence</a:t>
            </a:r>
            <a:endParaRPr lang="en-US" sz="4450" dirty="0"/>
          </a:p>
        </p:txBody>
      </p:sp>
      <p:sp>
        <p:nvSpPr>
          <p:cNvPr id="4" name="Shape 1"/>
          <p:cNvSpPr/>
          <p:nvPr/>
        </p:nvSpPr>
        <p:spPr>
          <a:xfrm>
            <a:off x="6280190" y="3614380"/>
            <a:ext cx="396835" cy="396835"/>
          </a:xfrm>
          <a:prstGeom prst="roundRect">
            <a:avLst>
              <a:gd name="adj" fmla="val 8574"/>
            </a:avLst>
          </a:prstGeom>
          <a:solidFill>
            <a:srgbClr val="434348"/>
          </a:solidFill>
          <a:ln/>
        </p:spPr>
      </p:sp>
      <p:sp>
        <p:nvSpPr>
          <p:cNvPr id="5" name="Text 2"/>
          <p:cNvSpPr/>
          <p:nvPr/>
        </p:nvSpPr>
        <p:spPr>
          <a:xfrm>
            <a:off x="6903839" y="3614380"/>
            <a:ext cx="2835235" cy="354330"/>
          </a:xfrm>
          <a:prstGeom prst="rect">
            <a:avLst/>
          </a:prstGeom>
          <a:noFill/>
          <a:ln/>
        </p:spPr>
        <p:txBody>
          <a:bodyPr wrap="none" lIns="0" tIns="0" rIns="0" bIns="0" rtlCol="0" anchor="t"/>
          <a:lstStyle/>
          <a:p>
            <a:pPr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Posture</a:t>
            </a:r>
            <a:endParaRPr lang="en-US" sz="2200" dirty="0"/>
          </a:p>
        </p:txBody>
      </p:sp>
      <p:sp>
        <p:nvSpPr>
          <p:cNvPr id="6" name="Text 3"/>
          <p:cNvSpPr/>
          <p:nvPr/>
        </p:nvSpPr>
        <p:spPr>
          <a:xfrm>
            <a:off x="6903839" y="4104799"/>
            <a:ext cx="3041213" cy="1451610"/>
          </a:xfrm>
          <a:prstGeom prst="rect">
            <a:avLst/>
          </a:prstGeom>
          <a:noFill/>
          <a:ln/>
        </p:spPr>
        <p:txBody>
          <a:bodyPr wrap="square" lIns="0" tIns="0" rIns="0" bIns="0" rtlCol="0" anchor="t"/>
          <a:lstStyle/>
          <a:p>
            <a:pPr indent="0" marL="0">
              <a:lnSpc>
                <a:spcPts val="2850"/>
              </a:lnSpc>
              <a:buNone/>
            </a:pPr>
            <a:r>
              <a:rPr lang="en-US" sz="1750" dirty="0">
                <a:solidFill>
                  <a:srgbClr val="C7CDD6"/>
                </a:solidFill>
                <a:latin typeface="Inter" pitchFamily="34" charset="0"/>
                <a:ea typeface="Inter" pitchFamily="34" charset="-122"/>
                <a:cs typeface="Inter" pitchFamily="34" charset="-120"/>
              </a:rPr>
              <a:t>Stand tall with your shoulders back and chin up. This posture conveys confidence and authority.</a:t>
            </a:r>
            <a:endParaRPr lang="en-US" sz="1750" dirty="0"/>
          </a:p>
        </p:txBody>
      </p:sp>
      <p:sp>
        <p:nvSpPr>
          <p:cNvPr id="7" name="Shape 4"/>
          <p:cNvSpPr/>
          <p:nvPr/>
        </p:nvSpPr>
        <p:spPr>
          <a:xfrm>
            <a:off x="10171867" y="3614380"/>
            <a:ext cx="396835" cy="396835"/>
          </a:xfrm>
          <a:prstGeom prst="roundRect">
            <a:avLst>
              <a:gd name="adj" fmla="val 8574"/>
            </a:avLst>
          </a:prstGeom>
          <a:solidFill>
            <a:srgbClr val="434348"/>
          </a:solidFill>
          <a:ln/>
        </p:spPr>
      </p:sp>
      <p:sp>
        <p:nvSpPr>
          <p:cNvPr id="8" name="Text 5"/>
          <p:cNvSpPr/>
          <p:nvPr/>
        </p:nvSpPr>
        <p:spPr>
          <a:xfrm>
            <a:off x="10795516" y="3614380"/>
            <a:ext cx="2835235" cy="354330"/>
          </a:xfrm>
          <a:prstGeom prst="rect">
            <a:avLst/>
          </a:prstGeom>
          <a:noFill/>
          <a:ln/>
        </p:spPr>
        <p:txBody>
          <a:bodyPr wrap="none" lIns="0" tIns="0" rIns="0" bIns="0" rtlCol="0" anchor="t"/>
          <a:lstStyle/>
          <a:p>
            <a:pPr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Stance</a:t>
            </a:r>
            <a:endParaRPr lang="en-US" sz="2200" dirty="0"/>
          </a:p>
        </p:txBody>
      </p:sp>
      <p:sp>
        <p:nvSpPr>
          <p:cNvPr id="9" name="Text 6"/>
          <p:cNvSpPr/>
          <p:nvPr/>
        </p:nvSpPr>
        <p:spPr>
          <a:xfrm>
            <a:off x="10795516" y="4104799"/>
            <a:ext cx="3041213" cy="1814513"/>
          </a:xfrm>
          <a:prstGeom prst="rect">
            <a:avLst/>
          </a:prstGeom>
          <a:noFill/>
          <a:ln/>
        </p:spPr>
        <p:txBody>
          <a:bodyPr wrap="square" lIns="0" tIns="0" rIns="0" bIns="0" rtlCol="0" anchor="t"/>
          <a:lstStyle/>
          <a:p>
            <a:pPr indent="0" marL="0">
              <a:lnSpc>
                <a:spcPts val="2850"/>
              </a:lnSpc>
              <a:buNone/>
            </a:pPr>
            <a:r>
              <a:rPr lang="en-US" sz="1750" dirty="0">
                <a:solidFill>
                  <a:srgbClr val="C7CDD6"/>
                </a:solidFill>
                <a:latin typeface="Inter" pitchFamily="34" charset="0"/>
                <a:ea typeface="Inter" pitchFamily="34" charset="-122"/>
                <a:cs typeface="Inter" pitchFamily="34" charset="-120"/>
              </a:rPr>
              <a:t>Keep your feet shoulder-width apart for a balanced and grounded stance. This helps you feel more stable and confident.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222421"/>
            <a:ext cx="5670590" cy="708779"/>
          </a:xfrm>
          <a:prstGeom prst="rect">
            <a:avLst/>
          </a:prstGeom>
          <a:noFill/>
          <a:ln/>
        </p:spPr>
        <p:txBody>
          <a:bodyPr wrap="none" lIns="0" tIns="0" rIns="0" bIns="0" rtlCol="0" anchor="t"/>
          <a:lstStyle/>
          <a:p>
            <a:pPr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Hand Gestures</a:t>
            </a:r>
            <a:endParaRPr lang="en-US" sz="4450" dirty="0"/>
          </a:p>
        </p:txBody>
      </p:sp>
      <p:pic>
        <p:nvPicPr>
          <p:cNvPr id="4" name="Image 1" descr="preencoded.png">    </p:cNvPr>
          <p:cNvPicPr>
            <a:picLocks noChangeAspect="1"/>
          </p:cNvPicPr>
          <p:nvPr/>
        </p:nvPicPr>
        <p:blipFill>
          <a:blip r:embed="rId2"/>
          <a:stretch>
            <a:fillRect/>
          </a:stretch>
        </p:blipFill>
        <p:spPr>
          <a:xfrm>
            <a:off x="6280190" y="3271361"/>
            <a:ext cx="566976" cy="566976"/>
          </a:xfrm>
          <a:prstGeom prst="rect">
            <a:avLst/>
          </a:prstGeom>
        </p:spPr>
      </p:pic>
      <p:sp>
        <p:nvSpPr>
          <p:cNvPr id="5" name="Text 1"/>
          <p:cNvSpPr/>
          <p:nvPr/>
        </p:nvSpPr>
        <p:spPr>
          <a:xfrm>
            <a:off x="6280190" y="406515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Emphasis</a:t>
            </a:r>
            <a:endParaRPr lang="en-US" sz="2200" dirty="0"/>
          </a:p>
        </p:txBody>
      </p:sp>
      <p:sp>
        <p:nvSpPr>
          <p:cNvPr id="6" name="Text 2"/>
          <p:cNvSpPr/>
          <p:nvPr/>
        </p:nvSpPr>
        <p:spPr>
          <a:xfrm>
            <a:off x="6280190" y="4555569"/>
            <a:ext cx="3608070" cy="1088708"/>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Pointing gestures can highlight important points and direct attention to specific areas.</a:t>
            </a:r>
            <a:endParaRPr lang="en-US" sz="1750" dirty="0"/>
          </a:p>
        </p:txBody>
      </p:sp>
      <p:pic>
        <p:nvPicPr>
          <p:cNvPr id="7" name="Image 2" descr="preencoded.png">    </p:cNvPr>
          <p:cNvPicPr>
            <a:picLocks noChangeAspect="1"/>
          </p:cNvPicPr>
          <p:nvPr/>
        </p:nvPicPr>
        <p:blipFill>
          <a:blip r:embed="rId3"/>
          <a:stretch>
            <a:fillRect/>
          </a:stretch>
        </p:blipFill>
        <p:spPr>
          <a:xfrm>
            <a:off x="10228421" y="3271361"/>
            <a:ext cx="566976" cy="566976"/>
          </a:xfrm>
          <a:prstGeom prst="rect">
            <a:avLst/>
          </a:prstGeom>
        </p:spPr>
      </p:pic>
      <p:sp>
        <p:nvSpPr>
          <p:cNvPr id="8" name="Text 3"/>
          <p:cNvSpPr/>
          <p:nvPr/>
        </p:nvSpPr>
        <p:spPr>
          <a:xfrm>
            <a:off x="10228421" y="406515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Openness</a:t>
            </a:r>
            <a:endParaRPr lang="en-US" sz="2200" dirty="0"/>
          </a:p>
        </p:txBody>
      </p:sp>
      <p:sp>
        <p:nvSpPr>
          <p:cNvPr id="9" name="Text 4"/>
          <p:cNvSpPr/>
          <p:nvPr/>
        </p:nvSpPr>
        <p:spPr>
          <a:xfrm>
            <a:off x="10228421" y="4555569"/>
            <a:ext cx="3608189" cy="1451610"/>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Open hand gestures convey sincerity and trustworthiness, building rapport with the audience.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115979"/>
            <a:ext cx="5670590" cy="708779"/>
          </a:xfrm>
          <a:prstGeom prst="rect">
            <a:avLst/>
          </a:prstGeom>
          <a:noFill/>
          <a:ln/>
        </p:spPr>
        <p:txBody>
          <a:bodyPr wrap="none" lIns="0" tIns="0" rIns="0" bIns="0" rtlCol="0" anchor="t"/>
          <a:lstStyle/>
          <a:p>
            <a:pPr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Eye Contact</a:t>
            </a:r>
            <a:endParaRPr lang="en-US" sz="4450" dirty="0"/>
          </a:p>
        </p:txBody>
      </p:sp>
      <p:sp>
        <p:nvSpPr>
          <p:cNvPr id="4" name="Shape 1"/>
          <p:cNvSpPr/>
          <p:nvPr/>
        </p:nvSpPr>
        <p:spPr>
          <a:xfrm>
            <a:off x="1118711" y="3164919"/>
            <a:ext cx="30480" cy="2948583"/>
          </a:xfrm>
          <a:prstGeom prst="roundRect">
            <a:avLst>
              <a:gd name="adj" fmla="val 111628"/>
            </a:avLst>
          </a:prstGeom>
          <a:solidFill>
            <a:srgbClr val="5C5C61"/>
          </a:solidFill>
          <a:ln/>
        </p:spPr>
      </p:sp>
      <p:sp>
        <p:nvSpPr>
          <p:cNvPr id="5" name="Shape 2"/>
          <p:cNvSpPr/>
          <p:nvPr/>
        </p:nvSpPr>
        <p:spPr>
          <a:xfrm>
            <a:off x="1358622" y="3659981"/>
            <a:ext cx="793790" cy="30480"/>
          </a:xfrm>
          <a:prstGeom prst="roundRect">
            <a:avLst>
              <a:gd name="adj" fmla="val 111628"/>
            </a:avLst>
          </a:prstGeom>
          <a:solidFill>
            <a:srgbClr val="5C5C61"/>
          </a:solidFill>
          <a:ln/>
        </p:spPr>
      </p:sp>
      <p:sp>
        <p:nvSpPr>
          <p:cNvPr id="6" name="Shape 3"/>
          <p:cNvSpPr/>
          <p:nvPr/>
        </p:nvSpPr>
        <p:spPr>
          <a:xfrm>
            <a:off x="878800" y="3420070"/>
            <a:ext cx="510302" cy="510302"/>
          </a:xfrm>
          <a:prstGeom prst="roundRect">
            <a:avLst>
              <a:gd name="adj" fmla="val 6667"/>
            </a:avLst>
          </a:prstGeom>
          <a:solidFill>
            <a:srgbClr val="434348"/>
          </a:solidFill>
          <a:ln/>
        </p:spPr>
      </p:sp>
      <p:sp>
        <p:nvSpPr>
          <p:cNvPr id="7" name="Text 4"/>
          <p:cNvSpPr/>
          <p:nvPr/>
        </p:nvSpPr>
        <p:spPr>
          <a:xfrm>
            <a:off x="1067753" y="3505081"/>
            <a:ext cx="132398" cy="340281"/>
          </a:xfrm>
          <a:prstGeom prst="rect">
            <a:avLst/>
          </a:prstGeom>
          <a:noFill/>
          <a:ln/>
        </p:spPr>
        <p:txBody>
          <a:bodyPr wrap="none" lIns="0" tIns="0" rIns="0" bIns="0" rtlCol="0" anchor="t"/>
          <a:lstStyle/>
          <a:p>
            <a:pPr algn="ctr" indent="0" marL="0">
              <a:lnSpc>
                <a:spcPts val="2650"/>
              </a:lnSpc>
              <a:buNone/>
            </a:pPr>
            <a:r>
              <a:rPr lang="en-US" sz="2650" dirty="0">
                <a:solidFill>
                  <a:srgbClr val="C7CDD6"/>
                </a:solidFill>
                <a:latin typeface="Instrument Sans Medium" pitchFamily="34" charset="0"/>
                <a:ea typeface="Instrument Sans Medium" pitchFamily="34" charset="-122"/>
                <a:cs typeface="Instrument Sans Medium" pitchFamily="34" charset="-120"/>
              </a:rPr>
              <a:t>1</a:t>
            </a:r>
            <a:endParaRPr lang="en-US" sz="2650" dirty="0"/>
          </a:p>
        </p:txBody>
      </p:sp>
      <p:sp>
        <p:nvSpPr>
          <p:cNvPr id="8" name="Text 5"/>
          <p:cNvSpPr/>
          <p:nvPr/>
        </p:nvSpPr>
        <p:spPr>
          <a:xfrm>
            <a:off x="2381488" y="3391733"/>
            <a:ext cx="5968722" cy="725805"/>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Make eye contact with different people in the audience, pausing for a moment to acknowledge each person.</a:t>
            </a:r>
            <a:endParaRPr lang="en-US" sz="1750" dirty="0"/>
          </a:p>
        </p:txBody>
      </p:sp>
      <p:sp>
        <p:nvSpPr>
          <p:cNvPr id="9" name="Shape 6"/>
          <p:cNvSpPr/>
          <p:nvPr/>
        </p:nvSpPr>
        <p:spPr>
          <a:xfrm>
            <a:off x="1358622" y="5066228"/>
            <a:ext cx="793790" cy="30480"/>
          </a:xfrm>
          <a:prstGeom prst="roundRect">
            <a:avLst>
              <a:gd name="adj" fmla="val 111628"/>
            </a:avLst>
          </a:prstGeom>
          <a:solidFill>
            <a:srgbClr val="5C5C61"/>
          </a:solidFill>
          <a:ln/>
        </p:spPr>
      </p:sp>
      <p:sp>
        <p:nvSpPr>
          <p:cNvPr id="10" name="Shape 7"/>
          <p:cNvSpPr/>
          <p:nvPr/>
        </p:nvSpPr>
        <p:spPr>
          <a:xfrm>
            <a:off x="878800" y="4826318"/>
            <a:ext cx="510302" cy="510302"/>
          </a:xfrm>
          <a:prstGeom prst="roundRect">
            <a:avLst>
              <a:gd name="adj" fmla="val 6667"/>
            </a:avLst>
          </a:prstGeom>
          <a:solidFill>
            <a:srgbClr val="434348"/>
          </a:solidFill>
          <a:ln/>
        </p:spPr>
      </p:sp>
      <p:sp>
        <p:nvSpPr>
          <p:cNvPr id="11" name="Text 8"/>
          <p:cNvSpPr/>
          <p:nvPr/>
        </p:nvSpPr>
        <p:spPr>
          <a:xfrm>
            <a:off x="1040130" y="4911328"/>
            <a:ext cx="187523" cy="340281"/>
          </a:xfrm>
          <a:prstGeom prst="rect">
            <a:avLst/>
          </a:prstGeom>
          <a:noFill/>
          <a:ln/>
        </p:spPr>
        <p:txBody>
          <a:bodyPr wrap="none" lIns="0" tIns="0" rIns="0" bIns="0" rtlCol="0" anchor="t"/>
          <a:lstStyle/>
          <a:p>
            <a:pPr algn="ctr" indent="0" marL="0">
              <a:lnSpc>
                <a:spcPts val="2650"/>
              </a:lnSpc>
              <a:buNone/>
            </a:pPr>
            <a:r>
              <a:rPr lang="en-US" sz="2650" dirty="0">
                <a:solidFill>
                  <a:srgbClr val="C7CDD6"/>
                </a:solidFill>
                <a:latin typeface="Instrument Sans Medium" pitchFamily="34" charset="0"/>
                <a:ea typeface="Instrument Sans Medium" pitchFamily="34" charset="-122"/>
                <a:cs typeface="Instrument Sans Medium" pitchFamily="34" charset="-120"/>
              </a:rPr>
              <a:t>2</a:t>
            </a:r>
            <a:endParaRPr lang="en-US" sz="2650" dirty="0"/>
          </a:p>
        </p:txBody>
      </p:sp>
      <p:sp>
        <p:nvSpPr>
          <p:cNvPr id="12" name="Text 9"/>
          <p:cNvSpPr/>
          <p:nvPr/>
        </p:nvSpPr>
        <p:spPr>
          <a:xfrm>
            <a:off x="2381488" y="4797981"/>
            <a:ext cx="5968722" cy="1088708"/>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Avoid staring at one person or looking over the heads of the audience. This can make you seem distant or uncomfortable.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868561"/>
            <a:ext cx="7098625" cy="708779"/>
          </a:xfrm>
          <a:prstGeom prst="rect">
            <a:avLst/>
          </a:prstGeom>
          <a:noFill/>
          <a:ln/>
        </p:spPr>
        <p:txBody>
          <a:bodyPr wrap="none" lIns="0" tIns="0" rIns="0" bIns="0" rtlCol="0" anchor="t"/>
          <a:lstStyle/>
          <a:p>
            <a:pPr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Controlling Nervous Habits</a:t>
            </a:r>
            <a:endParaRPr lang="en-US" sz="4450" dirty="0"/>
          </a:p>
        </p:txBody>
      </p:sp>
      <p:pic>
        <p:nvPicPr>
          <p:cNvPr id="4" name="Image 1" descr="preencoded.png">    </p:cNvPr>
          <p:cNvPicPr>
            <a:picLocks noChangeAspect="1"/>
          </p:cNvPicPr>
          <p:nvPr/>
        </p:nvPicPr>
        <p:blipFill>
          <a:blip r:embed="rId2"/>
          <a:stretch>
            <a:fillRect/>
          </a:stretch>
        </p:blipFill>
        <p:spPr>
          <a:xfrm>
            <a:off x="6280190" y="1917502"/>
            <a:ext cx="1134070" cy="1814513"/>
          </a:xfrm>
          <a:prstGeom prst="rect">
            <a:avLst/>
          </a:prstGeom>
        </p:spPr>
      </p:pic>
      <p:sp>
        <p:nvSpPr>
          <p:cNvPr id="5" name="Text 1"/>
          <p:cNvSpPr/>
          <p:nvPr/>
        </p:nvSpPr>
        <p:spPr>
          <a:xfrm>
            <a:off x="7754422" y="2144316"/>
            <a:ext cx="6082189" cy="725805"/>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Practice your speech beforehand. Familiarity will help reduce nerves and minimize fidgeting.</a:t>
            </a:r>
            <a:endParaRPr lang="en-US" sz="1750" dirty="0"/>
          </a:p>
        </p:txBody>
      </p:sp>
      <p:pic>
        <p:nvPicPr>
          <p:cNvPr id="6" name="Image 2" descr="preencoded.png">    </p:cNvPr>
          <p:cNvPicPr>
            <a:picLocks noChangeAspect="1"/>
          </p:cNvPicPr>
          <p:nvPr/>
        </p:nvPicPr>
        <p:blipFill>
          <a:blip r:embed="rId3"/>
          <a:stretch>
            <a:fillRect/>
          </a:stretch>
        </p:blipFill>
        <p:spPr>
          <a:xfrm>
            <a:off x="6280190" y="3732014"/>
            <a:ext cx="1134070" cy="1814513"/>
          </a:xfrm>
          <a:prstGeom prst="rect">
            <a:avLst/>
          </a:prstGeom>
        </p:spPr>
      </p:pic>
      <p:sp>
        <p:nvSpPr>
          <p:cNvPr id="7" name="Text 2"/>
          <p:cNvSpPr/>
          <p:nvPr/>
        </p:nvSpPr>
        <p:spPr>
          <a:xfrm>
            <a:off x="7754422" y="3958828"/>
            <a:ext cx="6082189" cy="725805"/>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Keep a water bottle nearby for hydration and to take breaks during your speech.</a:t>
            </a:r>
            <a:endParaRPr lang="en-US" sz="1750" dirty="0"/>
          </a:p>
        </p:txBody>
      </p:sp>
      <p:pic>
        <p:nvPicPr>
          <p:cNvPr id="8" name="Image 3" descr="preencoded.png">    </p:cNvPr>
          <p:cNvPicPr>
            <a:picLocks noChangeAspect="1"/>
          </p:cNvPicPr>
          <p:nvPr/>
        </p:nvPicPr>
        <p:blipFill>
          <a:blip r:embed="rId4"/>
          <a:stretch>
            <a:fillRect/>
          </a:stretch>
        </p:blipFill>
        <p:spPr>
          <a:xfrm>
            <a:off x="6280190" y="5546527"/>
            <a:ext cx="1134070" cy="1814513"/>
          </a:xfrm>
          <a:prstGeom prst="rect">
            <a:avLst/>
          </a:prstGeom>
        </p:spPr>
      </p:pic>
      <p:sp>
        <p:nvSpPr>
          <p:cNvPr id="9" name="Text 3"/>
          <p:cNvSpPr/>
          <p:nvPr/>
        </p:nvSpPr>
        <p:spPr>
          <a:xfrm>
            <a:off x="7754422" y="5773341"/>
            <a:ext cx="6082189" cy="725805"/>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Use note cards for reminders, but avoid reading directly from them, as it can break eye contact.</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72145"/>
            <a:ext cx="5670590" cy="708779"/>
          </a:xfrm>
          <a:prstGeom prst="rect">
            <a:avLst/>
          </a:prstGeom>
          <a:noFill/>
          <a:ln/>
        </p:spPr>
        <p:txBody>
          <a:bodyPr wrap="none" lIns="0" tIns="0" rIns="0" bIns="0" rtlCol="0" anchor="t"/>
          <a:lstStyle/>
          <a:p>
            <a:pPr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Projecting Authority</a:t>
            </a:r>
            <a:endParaRPr lang="en-US" sz="4450" dirty="0"/>
          </a:p>
        </p:txBody>
      </p:sp>
      <p:pic>
        <p:nvPicPr>
          <p:cNvPr id="3" name="Image 0" descr="preencoded.png">    </p:cNvPr>
          <p:cNvPicPr>
            <a:picLocks noChangeAspect="1"/>
          </p:cNvPicPr>
          <p:nvPr/>
        </p:nvPicPr>
        <p:blipFill>
          <a:blip r:embed="rId1"/>
          <a:stretch>
            <a:fillRect/>
          </a:stretch>
        </p:blipFill>
        <p:spPr>
          <a:xfrm>
            <a:off x="2978348" y="2134553"/>
            <a:ext cx="2152055" cy="1669852"/>
          </a:xfrm>
          <a:prstGeom prst="rect">
            <a:avLst/>
          </a:prstGeom>
        </p:spPr>
      </p:pic>
      <p:sp>
        <p:nvSpPr>
          <p:cNvPr id="4" name="Text 1"/>
          <p:cNvSpPr/>
          <p:nvPr/>
        </p:nvSpPr>
        <p:spPr>
          <a:xfrm>
            <a:off x="3999190" y="2959179"/>
            <a:ext cx="110252" cy="453509"/>
          </a:xfrm>
          <a:prstGeom prst="rect">
            <a:avLst/>
          </a:prstGeom>
          <a:noFill/>
          <a:ln/>
        </p:spPr>
        <p:txBody>
          <a:bodyPr wrap="none" lIns="0" tIns="0" rIns="0" bIns="0" rtlCol="0" anchor="t"/>
          <a:lstStyle/>
          <a:p>
            <a:pPr algn="ctr" indent="0" marL="0">
              <a:lnSpc>
                <a:spcPts val="35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1</a:t>
            </a:r>
            <a:endParaRPr lang="en-US" sz="2200" dirty="0"/>
          </a:p>
        </p:txBody>
      </p:sp>
      <p:sp>
        <p:nvSpPr>
          <p:cNvPr id="5" name="Text 2"/>
          <p:cNvSpPr/>
          <p:nvPr/>
        </p:nvSpPr>
        <p:spPr>
          <a:xfrm>
            <a:off x="5357217" y="254281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Vocal Delivery</a:t>
            </a:r>
            <a:endParaRPr lang="en-US" sz="2200" dirty="0"/>
          </a:p>
        </p:txBody>
      </p:sp>
      <p:sp>
        <p:nvSpPr>
          <p:cNvPr id="6" name="Text 3"/>
          <p:cNvSpPr/>
          <p:nvPr/>
        </p:nvSpPr>
        <p:spPr>
          <a:xfrm>
            <a:off x="5357217" y="3033236"/>
            <a:ext cx="8120896" cy="362903"/>
          </a:xfrm>
          <a:prstGeom prst="rect">
            <a:avLst/>
          </a:prstGeom>
          <a:noFill/>
          <a:ln/>
        </p:spPr>
        <p:txBody>
          <a:bodyPr wrap="non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Speak clearly and confidently, using a steady pace and appropriate volume.</a:t>
            </a:r>
            <a:endParaRPr lang="en-US" sz="1750" dirty="0"/>
          </a:p>
        </p:txBody>
      </p:sp>
      <p:sp>
        <p:nvSpPr>
          <p:cNvPr id="7" name="Shape 4"/>
          <p:cNvSpPr/>
          <p:nvPr/>
        </p:nvSpPr>
        <p:spPr>
          <a:xfrm>
            <a:off x="5187077" y="3817501"/>
            <a:ext cx="8592860" cy="15240"/>
          </a:xfrm>
          <a:prstGeom prst="roundRect">
            <a:avLst>
              <a:gd name="adj" fmla="val 223256"/>
            </a:avLst>
          </a:prstGeom>
          <a:solidFill>
            <a:srgbClr val="5C5C61"/>
          </a:solidFill>
          <a:ln/>
        </p:spPr>
      </p:sp>
      <p:pic>
        <p:nvPicPr>
          <p:cNvPr id="8" name="Image 1" descr="preencoded.png">    </p:cNvPr>
          <p:cNvPicPr>
            <a:picLocks noChangeAspect="1"/>
          </p:cNvPicPr>
          <p:nvPr/>
        </p:nvPicPr>
        <p:blipFill>
          <a:blip r:embed="rId2"/>
          <a:stretch>
            <a:fillRect/>
          </a:stretch>
        </p:blipFill>
        <p:spPr>
          <a:xfrm>
            <a:off x="1902381" y="3861078"/>
            <a:ext cx="4304109" cy="1669852"/>
          </a:xfrm>
          <a:prstGeom prst="rect">
            <a:avLst/>
          </a:prstGeom>
        </p:spPr>
      </p:pic>
      <p:sp>
        <p:nvSpPr>
          <p:cNvPr id="9" name="Text 5"/>
          <p:cNvSpPr/>
          <p:nvPr/>
        </p:nvSpPr>
        <p:spPr>
          <a:xfrm>
            <a:off x="3976211" y="4469249"/>
            <a:ext cx="156210" cy="453509"/>
          </a:xfrm>
          <a:prstGeom prst="rect">
            <a:avLst/>
          </a:prstGeom>
          <a:noFill/>
          <a:ln/>
        </p:spPr>
        <p:txBody>
          <a:bodyPr wrap="none" lIns="0" tIns="0" rIns="0" bIns="0" rtlCol="0" anchor="t"/>
          <a:lstStyle/>
          <a:p>
            <a:pPr algn="ctr" indent="0" marL="0">
              <a:lnSpc>
                <a:spcPts val="35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2</a:t>
            </a:r>
            <a:endParaRPr lang="en-US" sz="2200" dirty="0"/>
          </a:p>
        </p:txBody>
      </p:sp>
      <p:sp>
        <p:nvSpPr>
          <p:cNvPr id="10" name="Text 6"/>
          <p:cNvSpPr/>
          <p:nvPr/>
        </p:nvSpPr>
        <p:spPr>
          <a:xfrm>
            <a:off x="6433304" y="408789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Body Language</a:t>
            </a:r>
            <a:endParaRPr lang="en-US" sz="2200" dirty="0"/>
          </a:p>
        </p:txBody>
      </p:sp>
      <p:sp>
        <p:nvSpPr>
          <p:cNvPr id="11" name="Text 7"/>
          <p:cNvSpPr/>
          <p:nvPr/>
        </p:nvSpPr>
        <p:spPr>
          <a:xfrm>
            <a:off x="6433304" y="4578310"/>
            <a:ext cx="7176492" cy="725805"/>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Maintain an open posture, make eye contact, and use confident hand gestures.</a:t>
            </a:r>
            <a:endParaRPr lang="en-US" sz="1750" dirty="0"/>
          </a:p>
        </p:txBody>
      </p:sp>
      <p:sp>
        <p:nvSpPr>
          <p:cNvPr id="12" name="Shape 8"/>
          <p:cNvSpPr/>
          <p:nvPr/>
        </p:nvSpPr>
        <p:spPr>
          <a:xfrm>
            <a:off x="6263164" y="5544026"/>
            <a:ext cx="7516773" cy="15240"/>
          </a:xfrm>
          <a:prstGeom prst="roundRect">
            <a:avLst>
              <a:gd name="adj" fmla="val 223256"/>
            </a:avLst>
          </a:prstGeom>
          <a:solidFill>
            <a:srgbClr val="5C5C61"/>
          </a:solidFill>
          <a:ln/>
        </p:spPr>
      </p:sp>
      <p:pic>
        <p:nvPicPr>
          <p:cNvPr id="13" name="Image 2" descr="preencoded.png">    </p:cNvPr>
          <p:cNvPicPr>
            <a:picLocks noChangeAspect="1"/>
          </p:cNvPicPr>
          <p:nvPr/>
        </p:nvPicPr>
        <p:blipFill>
          <a:blip r:embed="rId3"/>
          <a:stretch>
            <a:fillRect/>
          </a:stretch>
        </p:blipFill>
        <p:spPr>
          <a:xfrm>
            <a:off x="826294" y="5587603"/>
            <a:ext cx="6456164" cy="1669852"/>
          </a:xfrm>
          <a:prstGeom prst="rect">
            <a:avLst/>
          </a:prstGeom>
        </p:spPr>
      </p:pic>
      <p:sp>
        <p:nvSpPr>
          <p:cNvPr id="14" name="Text 9"/>
          <p:cNvSpPr/>
          <p:nvPr/>
        </p:nvSpPr>
        <p:spPr>
          <a:xfrm>
            <a:off x="3972520" y="6195774"/>
            <a:ext cx="163592" cy="453509"/>
          </a:xfrm>
          <a:prstGeom prst="rect">
            <a:avLst/>
          </a:prstGeom>
          <a:noFill/>
          <a:ln/>
        </p:spPr>
        <p:txBody>
          <a:bodyPr wrap="none" lIns="0" tIns="0" rIns="0" bIns="0" rtlCol="0" anchor="t"/>
          <a:lstStyle/>
          <a:p>
            <a:pPr algn="ctr" indent="0" marL="0">
              <a:lnSpc>
                <a:spcPts val="35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3</a:t>
            </a:r>
            <a:endParaRPr lang="en-US" sz="2200" dirty="0"/>
          </a:p>
        </p:txBody>
      </p:sp>
      <p:sp>
        <p:nvSpPr>
          <p:cNvPr id="15" name="Text 10"/>
          <p:cNvSpPr/>
          <p:nvPr/>
        </p:nvSpPr>
        <p:spPr>
          <a:xfrm>
            <a:off x="7509272" y="581441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Content Knowledge</a:t>
            </a:r>
            <a:endParaRPr lang="en-US" sz="2200" dirty="0"/>
          </a:p>
        </p:txBody>
      </p:sp>
      <p:sp>
        <p:nvSpPr>
          <p:cNvPr id="16" name="Text 11"/>
          <p:cNvSpPr/>
          <p:nvPr/>
        </p:nvSpPr>
        <p:spPr>
          <a:xfrm>
            <a:off x="7509272" y="6304836"/>
            <a:ext cx="6100524" cy="725805"/>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Thorough preparation and understanding of the topic will project confidence and credibility.</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501622"/>
            <a:ext cx="5670590" cy="708779"/>
          </a:xfrm>
          <a:prstGeom prst="rect">
            <a:avLst/>
          </a:prstGeom>
          <a:noFill/>
          <a:ln/>
        </p:spPr>
        <p:txBody>
          <a:bodyPr wrap="none" lIns="0" tIns="0" rIns="0" bIns="0" rtlCol="0" anchor="t"/>
          <a:lstStyle/>
          <a:p>
            <a:pPr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Powerful Delivery</a:t>
            </a:r>
            <a:endParaRPr lang="en-US" sz="4450" dirty="0"/>
          </a:p>
        </p:txBody>
      </p:sp>
      <p:sp>
        <p:nvSpPr>
          <p:cNvPr id="4" name="Text 1"/>
          <p:cNvSpPr/>
          <p:nvPr/>
        </p:nvSpPr>
        <p:spPr>
          <a:xfrm>
            <a:off x="6280190" y="3550563"/>
            <a:ext cx="7556421" cy="2177415"/>
          </a:xfrm>
          <a:prstGeom prst="rect">
            <a:avLst/>
          </a:prstGeom>
          <a:noFill/>
          <a:ln/>
        </p:spPr>
        <p:txBody>
          <a:bodyPr wrap="square" lIns="0" tIns="0" rIns="0" bIns="0" rtlCol="0" anchor="t"/>
          <a:lstStyle/>
          <a:p>
            <a:pPr indent="0" marL="0">
              <a:lnSpc>
                <a:spcPts val="2850"/>
              </a:lnSpc>
              <a:buNone/>
            </a:pPr>
            <a:r>
              <a:rPr lang="en-US" sz="1750" dirty="0">
                <a:solidFill>
                  <a:srgbClr val="C7CDD6"/>
                </a:solidFill>
                <a:latin typeface="Inter" pitchFamily="34" charset="0"/>
                <a:ea typeface="Inter" pitchFamily="34" charset="-122"/>
                <a:cs typeface="Inter" pitchFamily="34" charset="-120"/>
              </a:rPr>
              <a:t>By mastering confident body language, you can create a powerful and engaging presentation that resonates with your audience. Remember to practice, be mindful of your body language cues, and connect with your listeners through eye contact and gestures. This will help you project an air of confidence and deliver a memorable speech that leaves a lasting impression.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2025-01-03T15:13:25Z</dcterms:created>
  <dcterms:modified xsi:type="dcterms:W3CDTF">2025-01-03T15:13:25Z</dcterms:modified>
</cp:coreProperties>
</file>